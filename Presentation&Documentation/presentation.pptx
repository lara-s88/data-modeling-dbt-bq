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6" r:id="rId4"/>
    <p:sldId id="267" r:id="rId5"/>
    <p:sldId id="268" r:id="rId6"/>
    <p:sldId id="269" r:id="rId7"/>
    <p:sldId id="271" r:id="rId8"/>
    <p:sldId id="270" r:id="rId9"/>
    <p:sldId id="272" r:id="rId10"/>
    <p:sldId id="258" r:id="rId11"/>
    <p:sldId id="259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4465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142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662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35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727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773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4130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3139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2109788"/>
            <a:ext cx="3199824" cy="310952"/>
          </a:xfrm>
          <a:prstGeom prst="roundRect">
            <a:avLst>
              <a:gd name="adj" fmla="val 17871"/>
            </a:avLst>
          </a:prstGeom>
          <a:solidFill>
            <a:srgbClr val="1E0C41"/>
          </a:solidFill>
          <a:ln/>
        </p:spPr>
      </p:sp>
      <p:sp>
        <p:nvSpPr>
          <p:cNvPr id="4" name="Text 1"/>
          <p:cNvSpPr/>
          <p:nvPr/>
        </p:nvSpPr>
        <p:spPr>
          <a:xfrm>
            <a:off x="760691" y="2159397"/>
            <a:ext cx="3610976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DEPI DATA ENGINEERING PROGRAM — PROJECT 9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2486819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Data Modeling with dbt and BigQuery</a:t>
            </a:r>
            <a:endParaRPr lang="en-US" sz="3250" dirty="0"/>
          </a:p>
        </p:txBody>
      </p:sp>
      <p:sp>
        <p:nvSpPr>
          <p:cNvPr id="6" name="Text 3"/>
          <p:cNvSpPr/>
          <p:nvPr/>
        </p:nvSpPr>
        <p:spPr>
          <a:xfrm>
            <a:off x="661475" y="3768328"/>
            <a:ext cx="6296860" cy="979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End-to-end ELT pipeline transforming 1.5M+ raw sales records into clean, tested, and analytics-ready models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Basmalah · Lara · Salma · Mariam · Nour · Menna</a:t>
            </a:r>
            <a:endParaRPr lang="en-US" sz="13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42703"/>
            <a:ext cx="486060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&amp; Objective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2707480"/>
            <a:ext cx="5470785" cy="3639531"/>
          </a:xfrm>
          <a:prstGeom prst="roundRect">
            <a:avLst>
              <a:gd name="adj" fmla="val 5394"/>
            </a:avLst>
          </a:prstGeom>
          <a:solidFill>
            <a:srgbClr val="007EBD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2872780"/>
            <a:ext cx="267695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❌ The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3302893"/>
            <a:ext cx="5140196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Raw sales data scattered across 3 tables</a:t>
            </a:r>
            <a:endParaRPr lang="en-US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 standardized column names</a:t>
            </a:r>
            <a:endParaRPr lang="en-US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 revenue or profit calculations</a:t>
            </a:r>
            <a:endParaRPr lang="en-US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Manual analysis takes hours</a:t>
            </a:r>
            <a:endParaRPr lang="en-US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 data quality checks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25034" y="2740372"/>
            <a:ext cx="267695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Our Solution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25034" y="3137595"/>
            <a:ext cx="5780520" cy="3044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ELT pipeline with dbt + BigQuery</a:t>
            </a:r>
            <a:endParaRPr lang="en-US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Automated data transformation</a:t>
            </a:r>
            <a:endParaRPr lang="en-US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Star Schema (fact + dimensions)</a:t>
            </a:r>
            <a:endParaRPr lang="en-US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47 automated data quality tests</a:t>
            </a:r>
            <a:endParaRPr lang="en-US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CI/CD via GitHub Actions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74920"/>
            <a:ext cx="3840480" cy="0"/>
          </a:xfrm>
          <a:prstGeom prst="line">
            <a:avLst/>
          </a:prstGeom>
          <a:noFill/>
          <a:ln w="25400">
            <a:solidFill>
              <a:srgbClr val="C9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331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 MODELING · DBT · BIGQUERY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Architecture &amp; Process Diagrams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walkthrough of the star schema and the four UML diagrams that describe how sales data moves from source to dashboard.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5806440"/>
            <a:ext cx="109728" cy="109728"/>
          </a:xfrm>
          <a:prstGeom prst="ellipse">
            <a:avLst/>
          </a:prstGeom>
          <a:solidFill>
            <a:srgbClr val="C9973A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56875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88920" y="5806440"/>
            <a:ext cx="109728" cy="109728"/>
          </a:xfrm>
          <a:prstGeom prst="ellipse">
            <a:avLst/>
          </a:prstGeom>
          <a:solidFill>
            <a:srgbClr val="C9973A"/>
          </a:solidFill>
          <a:ln/>
        </p:spPr>
      </p:sp>
      <p:sp>
        <p:nvSpPr>
          <p:cNvPr id="9" name="Text 7"/>
          <p:cNvSpPr/>
          <p:nvPr/>
        </p:nvSpPr>
        <p:spPr>
          <a:xfrm>
            <a:off x="2990088" y="56875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5806440"/>
            <a:ext cx="109728" cy="109728"/>
          </a:xfrm>
          <a:prstGeom prst="ellipse">
            <a:avLst/>
          </a:prstGeom>
          <a:solidFill>
            <a:srgbClr val="C9973A"/>
          </a:solidFill>
          <a:ln/>
        </p:spPr>
      </p:sp>
      <p:sp>
        <p:nvSpPr>
          <p:cNvPr id="11" name="Text 9"/>
          <p:cNvSpPr/>
          <p:nvPr/>
        </p:nvSpPr>
        <p:spPr>
          <a:xfrm>
            <a:off x="4956048" y="56875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/ CI-CD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20840" y="5806440"/>
            <a:ext cx="109728" cy="109728"/>
          </a:xfrm>
          <a:prstGeom prst="ellipse">
            <a:avLst/>
          </a:prstGeom>
          <a:solidFill>
            <a:srgbClr val="C9973A"/>
          </a:solidFill>
          <a:ln/>
        </p:spPr>
      </p:sp>
      <p:sp>
        <p:nvSpPr>
          <p:cNvPr id="13" name="Text 11"/>
          <p:cNvSpPr/>
          <p:nvPr/>
        </p:nvSpPr>
        <p:spPr>
          <a:xfrm>
            <a:off x="6922008" y="56875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0" y="5806440"/>
            <a:ext cx="109728" cy="109728"/>
          </a:xfrm>
          <a:prstGeom prst="ellipse">
            <a:avLst/>
          </a:prstGeom>
          <a:solidFill>
            <a:srgbClr val="C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887968" y="56875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710840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1 · 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 — fact_sales, dim_customer, dim_product</a:t>
            </a:r>
            <a:endParaRPr lang="en-US" sz="3000" dirty="0"/>
          </a:p>
        </p:txBody>
      </p:sp>
      <p:pic>
        <p:nvPicPr>
          <p:cNvPr id="4" name="Image 0" descr="/home/claude/assets/star_schema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08760"/>
            <a:ext cx="8229600" cy="4041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098280" y="1508760"/>
            <a:ext cx="2606040" cy="4480560"/>
          </a:xfrm>
          <a:prstGeom prst="rect">
            <a:avLst/>
          </a:prstGeom>
          <a:solidFill>
            <a:srgbClr val="F6F8FC"/>
          </a:solidFill>
          <a:ln/>
        </p:spPr>
      </p:sp>
      <p:sp>
        <p:nvSpPr>
          <p:cNvPr id="6" name="Text 3"/>
          <p:cNvSpPr/>
          <p:nvPr/>
        </p:nvSpPr>
        <p:spPr>
          <a:xfrm>
            <a:off x="9299448" y="169164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299448" y="2057400"/>
            <a:ext cx="2203704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 schema built for analytics: one central fact table surrounded by descriptive dimension tables.</a:t>
            </a:r>
            <a:endParaRPr lang="en-US" sz="110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line: quantity, amount, revenue, profit, and foreign keys to who bought and what was bought.</a:t>
            </a:r>
            <a:endParaRPr lang="en-US" sz="110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 &amp; dim_product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attributes — name, region, category, cost — kept separate so they aren't repeated on every row.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09989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2 · UML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000" dirty="0"/>
          </a:p>
        </p:txBody>
      </p:sp>
      <p:pic>
        <p:nvPicPr>
          <p:cNvPr id="4" name="Image 0" descr="/home/claude/assets/diagram_usecas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463040"/>
            <a:ext cx="2956560" cy="4434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82440" y="1508760"/>
            <a:ext cx="735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282440" y="1828800"/>
            <a:ext cx="7357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 case diagram captures the system from the outside: who interacts with it (the actors) and what they can accomplish (the use cases) — without describing the internal steps.</a:t>
            </a:r>
            <a:endParaRPr lang="en-US" sz="13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4282440" y="2880360"/>
            <a:ext cx="54864" cy="91440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8" name="Text 5"/>
          <p:cNvSpPr/>
          <p:nvPr/>
        </p:nvSpPr>
        <p:spPr>
          <a:xfrm>
            <a:off x="4483608" y="2852928"/>
            <a:ext cx="715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483608" y="3118104"/>
            <a:ext cx="715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or systems that trigger the workflow — for example a data engineer, an analyst, and the BI/reporting layer.</a:t>
            </a:r>
            <a:endParaRPr lang="en-US" sz="115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4282440" y="3931920"/>
            <a:ext cx="54864" cy="91440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1" name="Text 8"/>
          <p:cNvSpPr/>
          <p:nvPr/>
        </p:nvSpPr>
        <p:spPr>
          <a:xfrm>
            <a:off x="4483608" y="3904488"/>
            <a:ext cx="715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38651" y="4169664"/>
            <a:ext cx="715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distinct capabilities each actor needs: loading raw sales data, running dbt transformations, and querying the resulting model.</a:t>
            </a:r>
            <a:endParaRPr lang="en-US" sz="115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282440" y="4983480"/>
            <a:ext cx="54864" cy="91440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4" name="Text 11"/>
          <p:cNvSpPr/>
          <p:nvPr/>
        </p:nvSpPr>
        <p:spPr>
          <a:xfrm>
            <a:off x="4483608" y="4956048"/>
            <a:ext cx="715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483608" y="5212080"/>
            <a:ext cx="715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scopes the project before any implementation detail exists — a shared reference for who needs what from the pipeline.</a:t>
            </a:r>
            <a:endParaRPr lang="en-US" sz="115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77892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3 · UML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Diagram — CI/CD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diagram reads left to right and top to bottom, tracing the exact order of messages exchanged between components as a code change moves toward production.</a:t>
            </a:r>
            <a:endParaRPr lang="en-US" sz="13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4" dirty="0"/>
          </a:p>
        </p:txBody>
      </p:sp>
      <p:sp>
        <p:nvSpPr>
          <p:cNvPr id="8" name="Text 6"/>
          <p:cNvSpPr/>
          <p:nvPr/>
        </p:nvSpPr>
        <p:spPr>
          <a:xfrm>
            <a:off x="1097280" y="27934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 is pushed to the repository, which triggers the pipeline automatically.</a:t>
            </a:r>
            <a:endParaRPr lang="en-US" sz="115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354787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47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84" dirty="0"/>
          </a:p>
        </p:txBody>
      </p:sp>
      <p:sp>
        <p:nvSpPr>
          <p:cNvPr id="11" name="Text 9"/>
          <p:cNvSpPr/>
          <p:nvPr/>
        </p:nvSpPr>
        <p:spPr>
          <a:xfrm>
            <a:off x="1097280" y="34930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installs dependencies and runs the dbt build and test suite.</a:t>
            </a:r>
            <a:endParaRPr lang="en-US" sz="115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426110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84" dirty="0"/>
          </a:p>
        </p:txBody>
      </p:sp>
      <p:sp>
        <p:nvSpPr>
          <p:cNvPr id="14" name="Text 12"/>
          <p:cNvSpPr/>
          <p:nvPr/>
        </p:nvSpPr>
        <p:spPr>
          <a:xfrm>
            <a:off x="1097280" y="4206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</a:t>
            </a:r>
            <a:r>
              <a:rPr lang="en-US" sz="115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pass, models are deployed and materialized in BigQuery</a:t>
            </a: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97433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84" dirty="0"/>
          </a:p>
        </p:txBody>
      </p:sp>
      <p:sp>
        <p:nvSpPr>
          <p:cNvPr id="17" name="Text 15"/>
          <p:cNvSpPr/>
          <p:nvPr/>
        </p:nvSpPr>
        <p:spPr>
          <a:xfrm>
            <a:off x="1097280" y="49194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reports success or failure back to the developer</a:t>
            </a: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pic>
        <p:nvPicPr>
          <p:cNvPr id="18" name="Image 0" descr="/home/claude/assets/diagram_sequenc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8917" y="1463040"/>
            <a:ext cx="3959955" cy="44805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892704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4 · STRUCTURED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Diagram (DFD)</a:t>
            </a:r>
            <a:endParaRPr lang="en-US" sz="3000" dirty="0"/>
          </a:p>
        </p:txBody>
      </p:sp>
      <p:pic>
        <p:nvPicPr>
          <p:cNvPr id="4" name="Image 0" descr="/home/claude/assets/diagram_dfd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463040"/>
            <a:ext cx="2956560" cy="4434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82440" y="1508760"/>
            <a:ext cx="735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282440" y="1828800"/>
            <a:ext cx="7357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sequence diagram tracks time and a use case diagram tracks scope, a DFD tracks the data itself — where it originates, which processes touch it, and where it comes to rest.</a:t>
            </a:r>
            <a:endParaRPr lang="en-US" sz="13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4282440" y="2880360"/>
            <a:ext cx="54864" cy="91440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8" name="Text 5"/>
          <p:cNvSpPr/>
          <p:nvPr/>
        </p:nvSpPr>
        <p:spPr>
          <a:xfrm>
            <a:off x="4483608" y="2852928"/>
            <a:ext cx="715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entities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483608" y="3118104"/>
            <a:ext cx="715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and consumers outside the system boundary — source sales systems on one end, business users and dashboards on the other.</a:t>
            </a:r>
            <a:endParaRPr lang="en-US" sz="115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4282440" y="3931920"/>
            <a:ext cx="54864" cy="91440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1" name="Text 8"/>
          <p:cNvSpPr/>
          <p:nvPr/>
        </p:nvSpPr>
        <p:spPr>
          <a:xfrm>
            <a:off x="4483608" y="3904488"/>
            <a:ext cx="715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483608" y="4169664"/>
            <a:ext cx="715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transformations applied in between, such as extraction, staging, and dbt modeling into the star schema</a:t>
            </a: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82440" y="4983480"/>
            <a:ext cx="54864" cy="91440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4" name="Text 11"/>
          <p:cNvSpPr/>
          <p:nvPr/>
        </p:nvSpPr>
        <p:spPr>
          <a:xfrm>
            <a:off x="4483608" y="4956048"/>
            <a:ext cx="715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483608" y="5221224"/>
            <a:ext cx="715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raw, staging, and modeled tables (including fact_sales and its dimensions) where data is held at each stage.</a:t>
            </a:r>
            <a:endParaRPr lang="en-US" sz="115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472347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5 · UML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Diagram</a:t>
            </a:r>
            <a:endParaRPr lang="en-US" sz="3000" dirty="0"/>
          </a:p>
        </p:txBody>
      </p:sp>
      <p:pic>
        <p:nvPicPr>
          <p:cNvPr id="4" name="Image 0" descr="/home/claude/assets/diagram_activity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00200"/>
            <a:ext cx="6035040" cy="45831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0" y="1645920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132320" y="1965960"/>
            <a:ext cx="45079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activity diagram is the closest thing to a flowchart of the workflow itself: the ordered steps, any parallel work, and the decision points that route execution one way or another — for example, what happens when a data-quality check fails</a:t>
            </a: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611880"/>
            <a:ext cx="4507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complements the sequence diagram: the sequence diagram shows which components talk to each other, while the activity diagram shows the logic each step follows.</a:t>
            </a:r>
            <a:endParaRPr lang="en-US" sz="12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030247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FIT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136725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views of one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084832" cy="3566160"/>
          </a:xfrm>
          <a:prstGeom prst="rect">
            <a:avLst/>
          </a:prstGeom>
          <a:solidFill>
            <a:srgbClr val="232C63"/>
          </a:solidFill>
          <a:ln/>
        </p:spPr>
      </p:sp>
      <p:sp>
        <p:nvSpPr>
          <p:cNvPr id="5" name="Shape 3"/>
          <p:cNvSpPr/>
          <p:nvPr/>
        </p:nvSpPr>
        <p:spPr>
          <a:xfrm>
            <a:off x="1453896" y="2194560"/>
            <a:ext cx="457200" cy="457200"/>
          </a:xfrm>
          <a:prstGeom prst="ellipse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1453896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8346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347472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destination — how sales data is finally structured for fast, simple analytics.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26080" y="1874520"/>
            <a:ext cx="2084832" cy="3566160"/>
          </a:xfrm>
          <a:prstGeom prst="rect">
            <a:avLst/>
          </a:prstGeom>
          <a:solidFill>
            <a:srgbClr val="232C63"/>
          </a:solidFill>
          <a:ln/>
        </p:spPr>
      </p:sp>
      <p:sp>
        <p:nvSpPr>
          <p:cNvPr id="10" name="Shape 8"/>
          <p:cNvSpPr/>
          <p:nvPr/>
        </p:nvSpPr>
        <p:spPr>
          <a:xfrm>
            <a:off x="3739896" y="2194560"/>
            <a:ext cx="457200" cy="457200"/>
          </a:xfrm>
          <a:prstGeom prst="ellipse">
            <a:avLst/>
          </a:prstGeom>
          <a:solidFill>
            <a:srgbClr val="C9973A"/>
          </a:solidFill>
          <a:ln/>
        </p:spPr>
      </p:sp>
      <p:sp>
        <p:nvSpPr>
          <p:cNvPr id="11" name="Text 9"/>
          <p:cNvSpPr/>
          <p:nvPr/>
        </p:nvSpPr>
        <p:spPr>
          <a:xfrm>
            <a:off x="3739896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90672" y="28346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090672" y="347472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scope — who needs the pipeline and what they need it to do.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12080" y="1874520"/>
            <a:ext cx="2084832" cy="3566160"/>
          </a:xfrm>
          <a:prstGeom prst="rect">
            <a:avLst/>
          </a:prstGeom>
          <a:solidFill>
            <a:srgbClr val="232C63"/>
          </a:solidFill>
          <a:ln/>
        </p:spPr>
      </p:sp>
      <p:sp>
        <p:nvSpPr>
          <p:cNvPr id="15" name="Shape 13"/>
          <p:cNvSpPr/>
          <p:nvPr/>
        </p:nvSpPr>
        <p:spPr>
          <a:xfrm>
            <a:off x="6025896" y="2194560"/>
            <a:ext cx="457200" cy="457200"/>
          </a:xfrm>
          <a:prstGeom prst="ellipse">
            <a:avLst/>
          </a:prstGeom>
          <a:solidFill>
            <a:srgbClr val="C9973A"/>
          </a:solidFill>
          <a:ln/>
        </p:spPr>
      </p:sp>
      <p:sp>
        <p:nvSpPr>
          <p:cNvPr id="16" name="Text 14"/>
          <p:cNvSpPr/>
          <p:nvPr/>
        </p:nvSpPr>
        <p:spPr>
          <a:xfrm>
            <a:off x="6025896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76672" y="28346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/ CI-CD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376672" y="347472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timeline — the exact order components talk to each other during deployment.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98080" y="1874520"/>
            <a:ext cx="2084832" cy="3566160"/>
          </a:xfrm>
          <a:prstGeom prst="rect">
            <a:avLst/>
          </a:prstGeom>
          <a:solidFill>
            <a:srgbClr val="232C63"/>
          </a:solidFill>
          <a:ln/>
        </p:spPr>
      </p:sp>
      <p:sp>
        <p:nvSpPr>
          <p:cNvPr id="20" name="Shape 18"/>
          <p:cNvSpPr/>
          <p:nvPr/>
        </p:nvSpPr>
        <p:spPr>
          <a:xfrm>
            <a:off x="8311896" y="2194560"/>
            <a:ext cx="457200" cy="457200"/>
          </a:xfrm>
          <a:prstGeom prst="ellipse">
            <a:avLst/>
          </a:prstGeom>
          <a:solidFill>
            <a:srgbClr val="C9973A"/>
          </a:solidFill>
          <a:ln/>
        </p:spPr>
      </p:sp>
      <p:sp>
        <p:nvSpPr>
          <p:cNvPr id="21" name="Text 19"/>
          <p:cNvSpPr/>
          <p:nvPr/>
        </p:nvSpPr>
        <p:spPr>
          <a:xfrm>
            <a:off x="8311896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62672" y="28346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662672" y="347472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— where data comes from, what touches it, and where it lands.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784080" y="1874520"/>
            <a:ext cx="2084832" cy="3566160"/>
          </a:xfrm>
          <a:prstGeom prst="rect">
            <a:avLst/>
          </a:prstGeom>
          <a:solidFill>
            <a:srgbClr val="232C63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97896" y="2194560"/>
            <a:ext cx="457200" cy="457200"/>
          </a:xfrm>
          <a:prstGeom prst="ellipse">
            <a:avLst/>
          </a:prstGeom>
          <a:solidFill>
            <a:srgbClr val="C9973A"/>
          </a:solidFill>
          <a:ln/>
        </p:spPr>
      </p:sp>
      <p:sp>
        <p:nvSpPr>
          <p:cNvPr id="26" name="Text 24"/>
          <p:cNvSpPr/>
          <p:nvPr/>
        </p:nvSpPr>
        <p:spPr>
          <a:xfrm>
            <a:off x="10597896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948672" y="28346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948672" y="347472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 — the step-by-step process and decisions inside the workflow.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diagrams take a sales dataset from raw source systems, through a tested dbt/CI-CD pipeline, into the fact_sales star schema that powers reporting.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877914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95598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 Stack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143026"/>
            <a:ext cx="3512653" cy="1626989"/>
          </a:xfrm>
          <a:prstGeom prst="roundRect">
            <a:avLst>
              <a:gd name="adj" fmla="val 42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3119" y="2314674"/>
            <a:ext cx="496081" cy="496094"/>
          </a:xfrm>
          <a:prstGeom prst="ellipse">
            <a:avLst/>
          </a:prstGeom>
          <a:solidFill>
            <a:srgbClr val="581CA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541" y="2451001"/>
            <a:ext cx="223237" cy="2232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3119" y="2976066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BigQuery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3119" y="3333750"/>
            <a:ext cx="31693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Cloud Data Warehouse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39422" y="2143026"/>
            <a:ext cx="3512752" cy="1626989"/>
          </a:xfrm>
          <a:prstGeom prst="roundRect">
            <a:avLst>
              <a:gd name="adj" fmla="val 42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11066" y="2314674"/>
            <a:ext cx="496081" cy="496094"/>
          </a:xfrm>
          <a:prstGeom prst="ellipse">
            <a:avLst/>
          </a:prstGeom>
          <a:solidFill>
            <a:srgbClr val="581CA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7488" y="2451001"/>
            <a:ext cx="223237" cy="2232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11066" y="2976066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dbt Core 1.11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11066" y="3333750"/>
            <a:ext cx="31694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Data Transformation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017468" y="2143026"/>
            <a:ext cx="3512653" cy="1626989"/>
          </a:xfrm>
          <a:prstGeom prst="roundRect">
            <a:avLst>
              <a:gd name="adj" fmla="val 42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189112" y="2314674"/>
            <a:ext cx="496081" cy="496094"/>
          </a:xfrm>
          <a:prstGeom prst="ellipse">
            <a:avLst/>
          </a:prstGeom>
          <a:solidFill>
            <a:srgbClr val="581CA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25535" y="2451001"/>
            <a:ext cx="223237" cy="2232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89112" y="2976066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3.11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189112" y="3333750"/>
            <a:ext cx="31693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Runtime Environment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61475" y="3935313"/>
            <a:ext cx="5351626" cy="1626989"/>
          </a:xfrm>
          <a:prstGeom prst="roundRect">
            <a:avLst>
              <a:gd name="adj" fmla="val 42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33119" y="4106962"/>
            <a:ext cx="496081" cy="496094"/>
          </a:xfrm>
          <a:prstGeom prst="ellipse">
            <a:avLst/>
          </a:prstGeom>
          <a:solidFill>
            <a:srgbClr val="581CA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9541" y="4243288"/>
            <a:ext cx="223237" cy="22324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3119" y="4768354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33119" y="5126038"/>
            <a:ext cx="50083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CI/CD &amp; Scheduling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178395" y="3935313"/>
            <a:ext cx="5351725" cy="1626989"/>
          </a:xfrm>
          <a:prstGeom prst="roundRect">
            <a:avLst>
              <a:gd name="adj" fmla="val 42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350040" y="4106962"/>
            <a:ext cx="496081" cy="496094"/>
          </a:xfrm>
          <a:prstGeom prst="ellipse">
            <a:avLst/>
          </a:prstGeom>
          <a:solidFill>
            <a:srgbClr val="581CA0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86462" y="4243288"/>
            <a:ext cx="223237" cy="22324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50040" y="4768354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6350040" y="5126038"/>
            <a:ext cx="50084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Business Intelligence</a:t>
            </a:r>
            <a:endParaRPr lang="en-US" sz="13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38687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 Architecture &amp; Lineage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795933"/>
            <a:ext cx="5513294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328767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dbt Lineage Graph</a:t>
            </a:r>
            <a:endParaRPr lang="en-US" sz="6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294" y="795933"/>
            <a:ext cx="6678705" cy="5486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3316"/>
            <a:ext cx="5566926" cy="356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dbt Documentation — Live Models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75" y="916472"/>
            <a:ext cx="7595019" cy="544811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152309" y="849511"/>
            <a:ext cx="2922495" cy="632321"/>
          </a:xfrm>
          <a:prstGeom prst="roundRect">
            <a:avLst>
              <a:gd name="adj" fmla="val 7570"/>
            </a:avLst>
          </a:prstGeom>
          <a:solidFill>
            <a:srgbClr val="0D0A2C">
              <a:alpha val="95000"/>
            </a:srgbClr>
          </a:solidFill>
          <a:ln w="12700">
            <a:solidFill>
              <a:srgbClr val="4A2C8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468809" y="1006474"/>
            <a:ext cx="1424547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stg_sales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468809" y="1200798"/>
            <a:ext cx="5141883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View · 1.5M rows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8152210" y="2987335"/>
            <a:ext cx="2922594" cy="632321"/>
          </a:xfrm>
          <a:prstGeom prst="roundRect">
            <a:avLst>
              <a:gd name="adj" fmla="val 7570"/>
            </a:avLst>
          </a:prstGeom>
          <a:solidFill>
            <a:srgbClr val="0D0A2C">
              <a:alpha val="95000"/>
            </a:srgbClr>
          </a:solidFill>
          <a:ln w="12700">
            <a:solidFill>
              <a:srgbClr val="4A2C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10536" y="3022211"/>
            <a:ext cx="1424547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stg_customers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332694" y="3242543"/>
            <a:ext cx="5141982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View · 1,000 rows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8152309" y="1541863"/>
            <a:ext cx="2900081" cy="632321"/>
          </a:xfrm>
          <a:prstGeom prst="roundRect">
            <a:avLst>
              <a:gd name="adj" fmla="val 7570"/>
            </a:avLst>
          </a:prstGeom>
          <a:solidFill>
            <a:srgbClr val="0D0A2C">
              <a:alpha val="95000"/>
            </a:srgbClr>
          </a:solidFill>
          <a:ln w="12700">
            <a:solidFill>
              <a:srgbClr val="4A2C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05509" y="1562392"/>
            <a:ext cx="1424547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stg_products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05509" y="1778058"/>
            <a:ext cx="5141883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View · 50 rows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8152210" y="3700098"/>
            <a:ext cx="2900180" cy="632321"/>
          </a:xfrm>
          <a:prstGeom prst="roundRect">
            <a:avLst>
              <a:gd name="adj" fmla="val 7570"/>
            </a:avLst>
          </a:prstGeom>
          <a:solidFill>
            <a:srgbClr val="0D0A2C">
              <a:alpha val="95000"/>
            </a:srgbClr>
          </a:solidFill>
          <a:ln w="12700">
            <a:solidFill>
              <a:srgbClr val="4A2C8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05508" y="3785815"/>
            <a:ext cx="1424547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fact_sales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405410" y="3985476"/>
            <a:ext cx="5141982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Table · 1.5M rows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8152309" y="2257368"/>
            <a:ext cx="2922495" cy="632321"/>
          </a:xfrm>
          <a:prstGeom prst="roundRect">
            <a:avLst>
              <a:gd name="adj" fmla="val 7570"/>
            </a:avLst>
          </a:prstGeom>
          <a:solidFill>
            <a:srgbClr val="0D0A2C">
              <a:alpha val="95000"/>
            </a:srgbClr>
          </a:solidFill>
          <a:ln w="12700">
            <a:solidFill>
              <a:srgbClr val="4A2C8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10536" y="2347143"/>
            <a:ext cx="1424547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dim_customer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310536" y="2577166"/>
            <a:ext cx="5141883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Table · 1,000 rows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152210" y="4463571"/>
            <a:ext cx="2922594" cy="632321"/>
          </a:xfrm>
          <a:prstGeom prst="roundRect">
            <a:avLst>
              <a:gd name="adj" fmla="val 7570"/>
            </a:avLst>
          </a:prstGeom>
          <a:solidFill>
            <a:srgbClr val="0D0A2C">
              <a:alpha val="95000"/>
            </a:srgbClr>
          </a:solidFill>
          <a:ln w="12700">
            <a:solidFill>
              <a:srgbClr val="4A2C8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05410" y="4512568"/>
            <a:ext cx="1424547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dim_product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332694" y="4756736"/>
            <a:ext cx="5141982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Table · 50 rows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61475" y="6210598"/>
            <a:ext cx="11478330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dbt Docs — fact_sales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4053"/>
            <a:ext cx="5172342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Quality &amp; Testing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44130"/>
            <a:ext cx="10868745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47</a:t>
            </a:r>
            <a:endParaRPr lang="en-US" sz="4250" dirty="0"/>
          </a:p>
        </p:txBody>
      </p:sp>
      <p:sp>
        <p:nvSpPr>
          <p:cNvPr id="4" name="Text 2"/>
          <p:cNvSpPr/>
          <p:nvPr/>
        </p:nvSpPr>
        <p:spPr>
          <a:xfrm>
            <a:off x="5062113" y="2996605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Tests Passing 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1475" y="3447455"/>
            <a:ext cx="5351725" cy="965597"/>
          </a:xfrm>
          <a:prstGeom prst="roundRect">
            <a:avLst>
              <a:gd name="adj" fmla="val 7194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3119" y="3619103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unique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3119" y="3976787"/>
            <a:ext cx="50084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 duplicate primary keys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8495" y="3447455"/>
            <a:ext cx="5351725" cy="965597"/>
          </a:xfrm>
          <a:prstGeom prst="roundRect">
            <a:avLst>
              <a:gd name="adj" fmla="val 7194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0139" y="3619103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not_null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50139" y="3976787"/>
            <a:ext cx="50084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 missing values in key columns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1475" y="4578350"/>
            <a:ext cx="5351725" cy="965597"/>
          </a:xfrm>
          <a:prstGeom prst="roundRect">
            <a:avLst>
              <a:gd name="adj" fmla="val 7194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119" y="4749998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accepted_values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3119" y="5107682"/>
            <a:ext cx="50084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Valid values only in category fields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8495" y="4578350"/>
            <a:ext cx="5351725" cy="965597"/>
          </a:xfrm>
          <a:prstGeom prst="roundRect">
            <a:avLst>
              <a:gd name="adj" fmla="val 7194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0139" y="4749998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relationships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0139" y="5107682"/>
            <a:ext cx="50084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FK integrity between fact &amp; dims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0947"/>
            <a:ext cx="4576549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CI/CD — GitHub Actions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216025"/>
            <a:ext cx="1147833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0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Pipeline Status: Success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237" y="1134617"/>
            <a:ext cx="4966568" cy="318546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1554312"/>
            <a:ext cx="6348925" cy="24942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475" y="4320084"/>
            <a:ext cx="226342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 Steps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661475" y="4685506"/>
            <a:ext cx="5381490" cy="737890"/>
          </a:xfrm>
          <a:prstGeom prst="roundRect">
            <a:avLst>
              <a:gd name="adj" fmla="val 7531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00080" y="4824115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⏱</a:t>
            </a: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1m 14s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00080" y="5094288"/>
            <a:ext cx="5104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148730" y="4685506"/>
            <a:ext cx="5381490" cy="737890"/>
          </a:xfrm>
          <a:prstGeom prst="roundRect">
            <a:avLst>
              <a:gd name="adj" fmla="val 7531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287335" y="4824115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Success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287335" y="5094288"/>
            <a:ext cx="5104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Status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61475" y="5529163"/>
            <a:ext cx="5381490" cy="737890"/>
          </a:xfrm>
          <a:prstGeom prst="roundRect">
            <a:avLst>
              <a:gd name="adj" fmla="val 7531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00080" y="5667772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🔄</a:t>
            </a: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On Push + Daily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00080" y="5937945"/>
            <a:ext cx="5104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Trigger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48730" y="5529163"/>
            <a:ext cx="5381490" cy="737890"/>
          </a:xfrm>
          <a:prstGeom prst="roundRect">
            <a:avLst>
              <a:gd name="adj" fmla="val 7531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87335" y="5667772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🧪</a:t>
            </a: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47 Passed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287335" y="5937945"/>
            <a:ext cx="5104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Tests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719"/>
            <a:ext cx="391735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 Repository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68797"/>
            <a:ext cx="6210839" cy="344477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4732635"/>
            <a:ext cx="5381490" cy="737890"/>
          </a:xfrm>
          <a:prstGeom prst="roundRect">
            <a:avLst>
              <a:gd name="adj" fmla="val 7531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0080" y="4871244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🟢</a:t>
            </a: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CI Badge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00080" y="5141416"/>
            <a:ext cx="5104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Passing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148730" y="4732635"/>
            <a:ext cx="5381490" cy="737890"/>
          </a:xfrm>
          <a:prstGeom prst="roundRect">
            <a:avLst>
              <a:gd name="adj" fmla="val 7531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87335" y="4871244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📁</a:t>
            </a: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Commits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87335" y="5141416"/>
            <a:ext cx="5104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10+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61475" y="5576292"/>
            <a:ext cx="5381490" cy="737890"/>
          </a:xfrm>
          <a:prstGeom prst="roundRect">
            <a:avLst>
              <a:gd name="adj" fmla="val 7531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0080" y="5714901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🔀</a:t>
            </a: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Branch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0080" y="5985073"/>
            <a:ext cx="5104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main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48730" y="5576292"/>
            <a:ext cx="5381490" cy="737890"/>
          </a:xfrm>
          <a:prstGeom prst="roundRect">
            <a:avLst>
              <a:gd name="adj" fmla="val 7531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87335" y="5714901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📄</a:t>
            </a: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README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287335" y="5985073"/>
            <a:ext cx="5104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Professional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3642" y="169569"/>
            <a:ext cx="3503922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Results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7845114" y="800744"/>
            <a:ext cx="4407782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1.5M+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312879" y="1261985"/>
            <a:ext cx="144716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Records Processed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84218" y="1519447"/>
            <a:ext cx="4407782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264525" y="1939047"/>
            <a:ext cx="144716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dbt Models Built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84218" y="2193392"/>
            <a:ext cx="4407782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47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312879" y="2663287"/>
            <a:ext cx="144716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Tests Passing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45114" y="3029966"/>
            <a:ext cx="4407782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9312879" y="3658231"/>
            <a:ext cx="144716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CI/CD Automated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20253" y="4494560"/>
            <a:ext cx="173628" cy="17363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63550" y="4505491"/>
            <a:ext cx="592073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✓ Raw data transformed into clean Star Schema tables in BigQuery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20253" y="5096420"/>
            <a:ext cx="173628" cy="17363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63551" y="5068493"/>
            <a:ext cx="592073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✓ Automated pipeline runs daily — zero manual intervention needed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20253" y="5508476"/>
            <a:ext cx="173628" cy="17363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40616" y="5524649"/>
            <a:ext cx="592073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✓ Full data lineage tracked from raw sources to Power BI dashboard</a:t>
            </a:r>
            <a:endParaRPr lang="en-US" sz="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20253" y="5990588"/>
            <a:ext cx="173628" cy="17363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740616" y="6020393"/>
            <a:ext cx="5920731" cy="163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✓ Professional GitHub repository with CI/CD badge passing </a:t>
            </a:r>
            <a:r>
              <a:rPr lang="en-US" sz="9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9B2229E-3B7F-CA65-6D10-83F4EEAEED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8070112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</TotalTime>
  <Words>1058</Words>
  <Application>Microsoft Office PowerPoint</Application>
  <PresentationFormat>Widescreen</PresentationFormat>
  <Paragraphs>185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Cambria</vt:lpstr>
      <vt:lpstr>Heebo Bold</vt:lpstr>
      <vt:lpstr>Heebo Light</vt:lpstr>
      <vt:lpstr>Montserrat</vt:lpstr>
      <vt:lpstr>Twemoji Mozilla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PASMALA ATEF</cp:lastModifiedBy>
  <cp:revision>7</cp:revision>
  <dcterms:created xsi:type="dcterms:W3CDTF">2026-07-05T20:18:38Z</dcterms:created>
  <dcterms:modified xsi:type="dcterms:W3CDTF">2026-07-10T17:01:50Z</dcterms:modified>
</cp:coreProperties>
</file>